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rgbClr val="E0B87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Supersport Live</c:v>
                </c:pt>
                <c:pt idx="1">
                  <c:v>ICC Cricket WC</c:v>
                </c:pt>
                <c:pt idx="2">
                  <c:v>Channel O</c:v>
                </c:pt>
                <c:pt idx="3">
                  <c:v>SuperSport Blitz</c:v>
                </c:pt>
                <c:pt idx="4">
                  <c:v>Trace TV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987</c:v>
                </c:pt>
                <c:pt idx="1">
                  <c:v>908</c:v>
                </c:pt>
                <c:pt idx="2">
                  <c:v>706</c:v>
                </c:pt>
                <c:pt idx="3">
                  <c:v>619</c:v>
                </c:pt>
                <c:pt idx="4">
                  <c:v>596</c:v>
                </c:pt>
                <c:pt idx="5">
                  <c:v>568</c:v>
                </c:pt>
                <c:pt idx="6">
                  <c:v>501</c:v>
                </c:pt>
                <c:pt idx="7">
                  <c:v>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D6-426C-8B60-51104A1B21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rgbClr val="5B6BA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Supersport Live</c:v>
                </c:pt>
                <c:pt idx="1">
                  <c:v>ICC Cricket WC</c:v>
                </c:pt>
                <c:pt idx="2">
                  <c:v>Channel O</c:v>
                </c:pt>
                <c:pt idx="3">
                  <c:v>SuperSport Blitz</c:v>
                </c:pt>
                <c:pt idx="4">
                  <c:v>Trace TV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487</c:v>
                </c:pt>
                <c:pt idx="1">
                  <c:v>338</c:v>
                </c:pt>
                <c:pt idx="2">
                  <c:v>248</c:v>
                </c:pt>
                <c:pt idx="3">
                  <c:v>247</c:v>
                </c:pt>
                <c:pt idx="4">
                  <c:v>266</c:v>
                </c:pt>
                <c:pt idx="5">
                  <c:v>272</c:v>
                </c:pt>
                <c:pt idx="6">
                  <c:v>254</c:v>
                </c:pt>
                <c:pt idx="7">
                  <c:v>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D6-426C-8B60-51104A1B21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F1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C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43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F5F1E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5B6BA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KZN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Free State</c:v>
                </c:pt>
                <c:pt idx="7">
                  <c:v>North West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3543</c:v>
                </c:pt>
                <c:pt idx="1">
                  <c:v>1801</c:v>
                </c:pt>
                <c:pt idx="2">
                  <c:v>974</c:v>
                </c:pt>
                <c:pt idx="3">
                  <c:v>891</c:v>
                </c:pt>
                <c:pt idx="4">
                  <c:v>754</c:v>
                </c:pt>
                <c:pt idx="5">
                  <c:v>628</c:v>
                </c:pt>
                <c:pt idx="6">
                  <c:v>260</c:v>
                </c:pt>
                <c:pt idx="7">
                  <c:v>344</c:v>
                </c:pt>
                <c:pt idx="8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9D-436E-B836-C7C7DF78EE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Loyal</c:v>
                </c:pt>
              </c:strCache>
            </c:strRef>
          </c:tx>
          <c:spPr>
            <a:solidFill>
              <a:srgbClr val="F5D58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KZN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Free State</c:v>
                </c:pt>
                <c:pt idx="7">
                  <c:v>North West</c:v>
                </c:pt>
                <c:pt idx="8">
                  <c:v>Northern Cape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111</c:v>
                </c:pt>
                <c:pt idx="1">
                  <c:v>43</c:v>
                </c:pt>
                <c:pt idx="2">
                  <c:v>27</c:v>
                </c:pt>
                <c:pt idx="3">
                  <c:v>17</c:v>
                </c:pt>
                <c:pt idx="4">
                  <c:v>9</c:v>
                </c:pt>
                <c:pt idx="5">
                  <c:v>38</c:v>
                </c:pt>
                <c:pt idx="6">
                  <c:v>32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9D-436E-B836-C7C7DF78EE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VIP</c:v>
                </c:pt>
              </c:strCache>
            </c:strRef>
          </c:tx>
          <c:spPr>
            <a:solidFill>
              <a:srgbClr val="E0B87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KZN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Free State</c:v>
                </c:pt>
                <c:pt idx="7">
                  <c:v>North West</c:v>
                </c:pt>
                <c:pt idx="8">
                  <c:v>Northern Cape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10</c:v>
                </c:pt>
                <c:pt idx="4">
                  <c:v>0</c:v>
                </c:pt>
                <c:pt idx="5">
                  <c:v>24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9D-436E-B836-C7C7DF78E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5F1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C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43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F5F1E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engagement (hrs)</c:v>
                </c:pt>
              </c:strCache>
            </c:strRef>
          </c:tx>
          <c:spPr>
            <a:solidFill>
              <a:srgbClr val="E0B8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5F1E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1820</c:v>
                </c:pt>
                <c:pt idx="1">
                  <c:v>3140</c:v>
                </c:pt>
                <c:pt idx="2">
                  <c:v>2560</c:v>
                </c:pt>
                <c:pt idx="3">
                  <c:v>1680</c:v>
                </c:pt>
                <c:pt idx="4">
                  <c:v>920</c:v>
                </c:pt>
                <c:pt idx="5">
                  <c:v>410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02-44E6-88CD-B4A31E0FA3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1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C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437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E609D-3FD8-4F93-B053-BC355318867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88A42-FF4B-4803-94A3-94E57C52C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75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48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99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1C4A"/>
          </a:solidFill>
          <a:ln w="12700">
            <a:solidFill>
              <a:srgbClr val="121C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45720" cy="685800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457200" cy="4572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4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Q1 BOARD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Lastana Musekwa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Viewership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30175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Growth Strategy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0" y="4297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how audiences engage with our channels — and where the next chapter of growth lies.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63040" y="2487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insights that matter most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3127248"/>
            <a:ext cx="9601200" cy="9144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630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Channel &amp; Day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63040" y="35478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attention concentrates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463040" y="3840480"/>
            <a:ext cx="9601200" cy="9144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89534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39136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by Region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63040" y="42611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our highest-value viewers are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463040" y="4553712"/>
            <a:ext cx="9601200" cy="9144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460857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63040" y="46268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Audience by 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63040" y="4974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content preferences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463040" y="5266944"/>
            <a:ext cx="9601200" cy="9144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532180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63040" y="53400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63040" y="5687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moves to grow the business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463040" y="5980176"/>
            <a:ext cx="9601200" cy="9144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Three insights, one opportunity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566160" cy="210312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566160" cy="73152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weekday viewing comes from just 5 channels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43400" y="2468880"/>
            <a:ext cx="3566160" cy="210312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43400" y="2468880"/>
            <a:ext cx="3566160" cy="73152"/>
          </a:xfrm>
          <a:prstGeom prst="rect">
            <a:avLst/>
          </a:prstGeom>
          <a:solidFill>
            <a:srgbClr val="F5D58A"/>
          </a:solidFill>
          <a:ln w="12700">
            <a:solidFill>
              <a:srgbClr val="F5D5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6280" y="2697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5D58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2.6×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26280" y="3703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more engagement in Gauteng vs. the next province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38160" y="2468880"/>
            <a:ext cx="3566160" cy="210312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3566160" cy="73152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&lt;1%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21040" y="3703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viewers are VIP — our biggest growth lever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73152" cy="128016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investment in the channels and regions that already drive value, while building a deliberate VIP conversion engine. Personalise content by age cohort to defend share against streaming competitors.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INSIGHT 01 · CHANNEL PERFORMANCE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AUDIENCES SHOW UP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by channel &amp; day-type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457200" y="2377440"/>
          <a:ext cx="71323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955280" y="2377440"/>
            <a:ext cx="3840480" cy="402336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8388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18388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Sport dominates.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183880" y="33832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SuperSport, ICC Cricket and Channel O account for the majority of weekday engagement — and the gap widens further on weekends.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183880" y="4983480"/>
            <a:ext cx="3474720" cy="9144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83880" y="5074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83880" y="5349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premium drops &amp; ad inventory around proven peak channels.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· REGIONAL VALUE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VALUE LIVES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by province &amp; customer segment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457200" y="2377440"/>
          <a:ext cx="7315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955280" y="2377440"/>
            <a:ext cx="3840480" cy="402336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8388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183880" y="2880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Volume in Gauteng. Value elsewhere.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183880" y="37490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Gauteng drives the most viewers, but the few VIPs we have are concentrated in Eastern Cape and Mpumalanga — a sign the premium audience is under-served in the metros.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183880" y="5349240"/>
            <a:ext cx="3474720" cy="9144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83880" y="5440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83880" y="5715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Launch a VIP upgrade campaign in Gauteng &amp; Western Cape.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INSIGHT 03 · AUDIENCE COHORTS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by age group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457200" y="2377440"/>
          <a:ext cx="7315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955280" y="2377440"/>
            <a:ext cx="3840480" cy="402336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8388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18388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25–44 is our core.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183880" y="33832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cohorts generate over 60% of all viewing time — yet our content mix and marketing spend are not yet calibrated to them.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183880" y="4983480"/>
            <a:ext cx="3474720" cy="9144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83880" y="5074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83880" y="5349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personalised rails for the 25–44 viewer; defend the 18–24 with sport &amp; music.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MOVES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How we grow from here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85461"/>
            <a:ext cx="5486400" cy="109728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2514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channels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2880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Re-allocate 20% of content spend to the 5 channels driving 73% of engagement.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5486400" cy="109728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09360" y="2377440"/>
            <a:ext cx="73152" cy="109728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223760" y="2514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a VIP conversion engine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23760" y="2880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loyal users in Gauteng &amp; WC; offer a paid premium tier with exclusive sport.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5486400" cy="109728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800" y="3794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160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 the metros back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regional campaigns in low-VIP, high-volume provinces.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5486400" cy="109728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3657600"/>
            <a:ext cx="73152" cy="109728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3794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22376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by age cohort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23760" y="41605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Curated rails for 25–44; sport-led acquisition for 18–24.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937760"/>
            <a:ext cx="5486400" cy="109728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937760"/>
            <a:ext cx="73152" cy="109728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" y="5074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71600" y="5074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around peak days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371600" y="5440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premieres and ad inventory on proven high-traffic days.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09360" y="4937760"/>
            <a:ext cx="5486400" cy="109728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37960" y="5074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0A0F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37960" y="5349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A0F26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+15% engagement &amp; 2× VIP base in 12 months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What we ship, and when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402336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657600" cy="73152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376732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3657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 up viewer-segmentation model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454456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120" y="4434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VIP eligibility criteria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" y="532180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content rights by channel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89120" y="2377440"/>
            <a:ext cx="3657600" cy="402336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0" y="2377440"/>
            <a:ext cx="3657600" cy="73152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6344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634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376732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92040" y="3657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Launch VIP tier in Gauteng &amp; WC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454456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92040" y="4434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A/B test age-cohort home rails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532180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9204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Re-time 3 premium drops to peak days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21040" y="2377440"/>
            <a:ext cx="3657600" cy="4023360"/>
          </a:xfrm>
          <a:prstGeom prst="rect">
            <a:avLst/>
          </a:prstGeom>
          <a:solidFill>
            <a:srgbClr val="121C4A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21040" y="2377440"/>
            <a:ext cx="3657600" cy="73152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9536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9536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595360" y="376732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23960" y="3657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Roll out personalisation nationally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595360" y="454456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823960" y="4434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growth campaign live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595360" y="5321808"/>
            <a:ext cx="109728" cy="10972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82396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Board update with measured uplift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91440" cy="320040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Bright TV already has the audience.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 next chapter is about depth, not breadth.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Doubling down on proven channels, converting loyal viewers into VIPs, and personalising by cohort will compound into measurable revenue growth — within a single fiscal year.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+15%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34840" y="5349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48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VIP base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92440" y="5349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12 mo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924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4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495" y="274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Analysis  ·  Q1 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6"/>
          </a:solidFill>
          <a:ln w="12700">
            <a:solidFill>
              <a:srgbClr val="0A0F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0" y="0"/>
            <a:ext cx="45720" cy="685800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94960" y="23774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0" b="1" i="0" u="none" strike="noStrike" kern="1200" cap="none" spc="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kumimoji="0" lang="en-US" sz="1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4960" y="4297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E0B8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Let's discuss where to invest first.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640080"/>
            <a:ext cx="457200" cy="45720"/>
          </a:xfrm>
          <a:prstGeom prst="rect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F5F1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Lastana Musekwa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701</Words>
  <Application>Microsoft Office PowerPoint</Application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Last Musekwa</dc:creator>
  <cp:lastModifiedBy>Last Musekwa</cp:lastModifiedBy>
  <cp:revision>1</cp:revision>
  <dcterms:created xsi:type="dcterms:W3CDTF">2026-04-18T11:22:37Z</dcterms:created>
  <dcterms:modified xsi:type="dcterms:W3CDTF">2026-04-18T11:26:21Z</dcterms:modified>
</cp:coreProperties>
</file>